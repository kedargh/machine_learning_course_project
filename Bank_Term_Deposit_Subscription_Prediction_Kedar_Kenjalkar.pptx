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849E04-2A99-455B-B3FD-790CCD0538D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https://doi.org/10.24432/C5K306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https://doi.org/10.24432/C5K306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https://doi.org/10.24432/C5K306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https://doi.org/10.1016/j.mlwa.2025.100618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https://doi.org/10.1016/j.dss.2014.03.001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https://doi.org/10.1007/s00521-014-1703-0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https://doi.org/10.1109/SOCPAR.2015.7492828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https://doi.org/10.1111/exsy.12253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https://doi.org/10.11648/j.ijdst.20180401.15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https://doi.org/10.3390/app10072581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https://doi.org/10.1016/j.asoc.2020.106259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https://doi.org/10.1016/j.jbusres.2021.09.067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https://doi.org/10.3390/jrfm15060269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https://doi.org/10.1016/j.cie.2022.108874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https://doi.org/10.1109/ACCESS.2023.3292840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https://doi.org/10.1016/j.mlwa.2025.100618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gaps are comparative gaps relative to the proposed CBDP and are derived from each paper's reported scope; they are not necessarily limitations stated by the authors.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https://doi.org/10.1016/j.dss.2014.03.001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https://doi.org/10.1007/s00521-014-1703-0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https://doi.org/10.1109/SOCPAR.2015.7492828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https://doi.org/10.1111/exsy.12253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https://doi.org/10.11648/j.ijdst.20180401.15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https://doi.org/10.3390/app10072581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gaps are comparative gaps relative to the proposed CBDP and are derived from each paper's reported scope; they are not necessarily limitations stated by the authors.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https://doi.org/10.1016/j.asoc.2020.106259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https://doi.org/10.1016/j.jbusres.2021.09.067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https://doi.org/10.3390/jrfm15060269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https://doi.org/10.1016/j.cie.2022.108874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https://doi.org/10.1109/ACCESS.2023.3292840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https://doi.org/10.1016/j.mlwa.2025.100618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https://doi.org/10.1016/j.dss.2014.03.001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https://doi.org/10.1007/s00521-014-1703-0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https://doi.org/10.1109/SOCPAR.2015.7492828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https://doi.org/10.1111/exsy.12253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https://doi.org/10.11648/j.ijdst.20180401.15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https://doi.org/10.3390/app10072581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https://doi.org/10.24432/C5K306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https://doi.org/10.1016/j.asoc.2020.106259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https://doi.org/10.1016/j.jbusres.2021.09.067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https://doi.org/10.3390/jrfm15060269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https://doi.org/10.1016/j.cie.2022.108874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https://doi.org/10.1109/ACCESS.2023.3292840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https://doi.org/10.1016/j.mlwa.2025.100618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doi.org/10.24432/C5K30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doi.org/10.1016/j.dss.2014.03.001" TargetMode="External"/><Relationship Id="rId2" Type="http://schemas.openxmlformats.org/officeDocument/2006/relationships/hyperlink" Target="https://doi.org/10.1007/s00521-014-1703-0" TargetMode="External"/><Relationship Id="rId3" Type="http://schemas.openxmlformats.org/officeDocument/2006/relationships/hyperlink" Target="https://doi.org/10.1109/SOCPAR.2015.7492828" TargetMode="External"/><Relationship Id="rId4" Type="http://schemas.openxmlformats.org/officeDocument/2006/relationships/hyperlink" Target="https://doi.org/10.1111/exsy.12253" TargetMode="External"/><Relationship Id="rId5" Type="http://schemas.openxmlformats.org/officeDocument/2006/relationships/hyperlink" Target="https://doi.org/10.11648/j.ijdst.20180401.15" TargetMode="External"/><Relationship Id="rId6" Type="http://schemas.openxmlformats.org/officeDocument/2006/relationships/hyperlink" Target="https://doi.org/10.3390/app10072581" TargetMode="External"/><Relationship Id="rId7" Type="http://schemas.openxmlformats.org/officeDocument/2006/relationships/hyperlink" Target="https://doi.org/10.24432/C5K306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doi.org/10.1016/j.asoc.2020.106259" TargetMode="External"/><Relationship Id="rId2" Type="http://schemas.openxmlformats.org/officeDocument/2006/relationships/hyperlink" Target="https://doi.org/10.1016/j.jbusres.2021.09.067" TargetMode="External"/><Relationship Id="rId3" Type="http://schemas.openxmlformats.org/officeDocument/2006/relationships/hyperlink" Target="https://doi.org/10.3390/jrfm15060269" TargetMode="External"/><Relationship Id="rId4" Type="http://schemas.openxmlformats.org/officeDocument/2006/relationships/hyperlink" Target="https://doi.org/10.1016/j.cie.2022.108874" TargetMode="External"/><Relationship Id="rId5" Type="http://schemas.openxmlformats.org/officeDocument/2006/relationships/hyperlink" Target="https://doi.org/10.1109/ACCESS.2023.3292840" TargetMode="External"/><Relationship Id="rId6" Type="http://schemas.openxmlformats.org/officeDocument/2006/relationships/hyperlink" Target="https://doi.org/10.1016/j.mlwa.2025.100618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457200" y="399960"/>
            <a:ext cx="914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CBDP PROJECT PROPOSAL  |  MACHINE LEARNING AND APPLICATIONS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457200" y="1390680"/>
            <a:ext cx="809604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lang="en-US" sz="488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Bank Term-Deposit</a:t>
            </a:r>
            <a:endParaRPr lang="en-US" sz="4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88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Subscription Prediction</a:t>
            </a:r>
            <a:endParaRPr lang="en-US" sz="4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57200" y="3552840"/>
            <a:ext cx="80960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An explainable ML application for prioritising customers before a marketing call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124920" y="1714680"/>
            <a:ext cx="228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124920" y="2181240"/>
            <a:ext cx="22856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9124920" y="2990880"/>
            <a:ext cx="2285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9239400" y="3666960"/>
            <a:ext cx="2057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57200" y="5200560"/>
            <a:ext cx="4476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Kedar Kenjalkar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57200" y="561024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Roll No. 26MAI0007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WHY THIS PROJECT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 simple ML problem with a useful application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57200" y="1409760"/>
            <a:ext cx="10762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Banks cannot call every customer. The project learns from earlier campaigns and ranks customers by their likelihood of subscribing.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85800" y="2438280"/>
            <a:ext cx="171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85800" y="2828880"/>
            <a:ext cx="25714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Customer profile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+ campaign history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85800" y="3790800"/>
            <a:ext cx="25714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age, job, balance, loans, previous contacts...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581280" y="3114720"/>
            <a:ext cx="6663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900" b="1" u="none" strike="noStrike">
                <a:solidFill>
                  <a:srgbClr val="c8cdd5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514760" y="2438280"/>
            <a:ext cx="23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MACHINE LEARNING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514760" y="2828880"/>
            <a:ext cx="29523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Learn patterns from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labelled campaign data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514760" y="3790800"/>
            <a:ext cx="29523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Logistic Regression, Decision Tree, Random Forest, XGBoost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772400" y="3114720"/>
            <a:ext cx="6663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900" b="1" u="none" strike="noStrike">
                <a:solidFill>
                  <a:srgbClr val="c8cdd5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705880" y="2438280"/>
            <a:ext cx="171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1835a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705880" y="2828880"/>
            <a:ext cx="27237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Probability + decision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+ explanation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705880" y="3790800"/>
            <a:ext cx="27237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prioritised contact list and reasons behind each recommendation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5800" y="5143680"/>
            <a:ext cx="10743840" cy="666360"/>
          </a:xfrm>
          <a:prstGeom prst="rect">
            <a:avLst/>
          </a:prstGeom>
          <a:solidFill>
            <a:srgbClr val="d9e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33480" y="5276880"/>
            <a:ext cx="10248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Why it is feasible: one public dataset, standard tabular ML, clear evaluation metrics and a lightweight Streamlit demo.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PROBLEM IDENTIFICATION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Problem identification: prediction must lead to a usable decision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" name=""/>
          <p:cNvGraphicFramePr/>
          <p:nvPr/>
        </p:nvGraphicFramePr>
        <p:xfrm>
          <a:off x="457200" y="1495440"/>
          <a:ext cx="11277360" cy="4247640"/>
        </p:xfrm>
        <a:graphic>
          <a:graphicData uri="http://schemas.openxmlformats.org/drawingml/2006/table">
            <a:tbl>
              <a:tblPr/>
              <a:tblGrid>
                <a:gridCol w="3286080"/>
                <a:gridCol w="3752640"/>
                <a:gridCol w="4238280"/>
              </a:tblGrid>
              <a:tr h="60660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Observed problem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Why it matters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Project response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066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Most customers do not subscribe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Calling everyone wastes time and cost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Rank customers by predicted probability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66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Subscriber class is smaller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can hide missed subscribers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Class weights + recall, F1 and PR-AUC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6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Call duration is known only after a call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It can inflate an offline pre-call score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Separate pre-call and post-call models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66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 probability is not an action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 bank still needs whom to call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Cost-aware threshold and top-N list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6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Predictions may be questioned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Users need understandable reasons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Global importance + local SHAP reasons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66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Campaign patterns can change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Random splits can look too optimistic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Later-period holdout when order is available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"/>
          <p:cNvSpPr/>
          <p:nvPr/>
        </p:nvSpPr>
        <p:spPr>
          <a:xfrm>
            <a:off x="723960" y="5867280"/>
            <a:ext cx="10743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Core problem statement: predict subscription before contact and convert the result into a transparent, responsible calling recommendation.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OBJECTIVE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 focused research question keeps the project measurable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57200" y="1447920"/>
            <a:ext cx="11277360" cy="106632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43040" y="1628640"/>
            <a:ext cx="107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Can machine-learning models predict whether a customer will subscribe to a term deposit using information available before a marketing call?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57200" y="2943360"/>
            <a:ext cx="209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57200" y="333360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047600" y="3314880"/>
            <a:ext cx="445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Prepare the data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047600" y="3629160"/>
            <a:ext cx="4457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Clean mixed numerical and categorical fields without information leakage.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57200" y="451476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df5f1"/>
          </a:solidFill>
          <a:ln w="9525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047600" y="4495680"/>
            <a:ext cx="445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Compare models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047600" y="4809960"/>
            <a:ext cx="4457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Use interpretable baselines and a stronger ensemble model.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229440" y="333360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819840" y="3314880"/>
            <a:ext cx="445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Evaluate correctly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19840" y="3629160"/>
            <a:ext cx="4457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Handle imbalance, test later records and calibrate probabilities.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229440" y="451476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df5f1"/>
          </a:solidFill>
          <a:ln w="9525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19840" y="4495680"/>
            <a:ext cx="445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Build an application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19840" y="4809960"/>
            <a:ext cx="4457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Return a score, recommendation, explanation and batch contact list.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DATA 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UCI dataset is public, compact and ready for tabular ML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157176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45,211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7200" y="224784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campaign records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276720" y="157176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276720" y="224784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input variables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095880" y="157176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095880" y="224784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target classes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915400" y="157176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915400" y="224784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public reproducible source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57200" y="287640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57200" y="3143160"/>
            <a:ext cx="171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57200" y="361008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47640" y="3524400"/>
            <a:ext cx="5143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UCI Machine Learning Repository — Bank Marketing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57200" y="411480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47640" y="4029120"/>
            <a:ext cx="5143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Portuguese bank direct-marketing campaign records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57200" y="461952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47640" y="4533840"/>
            <a:ext cx="5143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Binary target y: yes = subscribed, no = did not subscribe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57200" y="512460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47640" y="5038560"/>
            <a:ext cx="5143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Mixed numerical and categorical inputs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91280" y="3143160"/>
            <a:ext cx="266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WHY IT FITS THE SUBJECT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191280" y="361008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381720" y="3524400"/>
            <a:ext cx="4952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Supervised binary classification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191280" y="411480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381720" y="4029120"/>
            <a:ext cx="4952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Encoding, scaling and feature engineering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191280" y="461952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381720" y="4533840"/>
            <a:ext cx="4952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Class-imbalance and threshold decisions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191280" y="512460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381720" y="5038560"/>
            <a:ext cx="4952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Explainability and deployment in an app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57200" y="581976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1"/>
              </a:rPr>
              <a:t>Dataset DOI: https://doi.org/10.24432/C5K306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ORIGINAL INPUT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original 16 predictors cover profile, finance and campaign history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57200" y="1562040"/>
            <a:ext cx="2514240" cy="344772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57200" y="1562040"/>
            <a:ext cx="2514240" cy="8532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47640" y="1847880"/>
            <a:ext cx="2133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Customer profile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47640" y="237168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age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47640" y="28004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job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47640" y="32288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marital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47640" y="365760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education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47640" y="4210200"/>
            <a:ext cx="213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Basic demographic and employment information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276720" y="1562040"/>
            <a:ext cx="2514240" cy="344772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276720" y="1562040"/>
            <a:ext cx="2514240" cy="853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467160" y="1847880"/>
            <a:ext cx="2133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Financial position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467160" y="237168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default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467160" y="28004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balance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467160" y="32288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housing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467160" y="365760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loan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467160" y="4210200"/>
            <a:ext cx="213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Credit status, account balance and loan products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095880" y="1562040"/>
            <a:ext cx="2514240" cy="344772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095880" y="1562040"/>
            <a:ext cx="2514240" cy="85320"/>
          </a:xfrm>
          <a:prstGeom prst="rect">
            <a:avLst/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286680" y="1847880"/>
            <a:ext cx="2133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Current campaign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286680" y="237168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b76e00"/>
                </a:solidFill>
                <a:effectLst/>
                <a:uFillTx/>
                <a:latin typeface="Arial"/>
                <a:ea typeface="Arial"/>
              </a:rPr>
              <a:t>contact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286680" y="28004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b76e00"/>
                </a:solidFill>
                <a:effectLst/>
                <a:uFillTx/>
                <a:latin typeface="Arial"/>
                <a:ea typeface="Arial"/>
              </a:rPr>
              <a:t>day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286680" y="32288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b76e00"/>
                </a:solidFill>
                <a:effectLst/>
                <a:uFillTx/>
                <a:latin typeface="Arial"/>
                <a:ea typeface="Arial"/>
              </a:rPr>
              <a:t>month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286680" y="365760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b76e00"/>
                </a:solidFill>
                <a:effectLst/>
                <a:uFillTx/>
                <a:latin typeface="Arial"/>
                <a:ea typeface="Arial"/>
              </a:rPr>
              <a:t>campaign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286680" y="4210200"/>
            <a:ext cx="213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How and when the customer is contacted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915400" y="1562040"/>
            <a:ext cx="2514240" cy="344772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915400" y="1562040"/>
            <a:ext cx="2514240" cy="85320"/>
          </a:xfrm>
          <a:prstGeom prst="rect">
            <a:avLst/>
          </a:prstGeom>
          <a:solidFill>
            <a:srgbClr val="7056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105840" y="1847880"/>
            <a:ext cx="2133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Previous campaign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9105840" y="237168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7056c9"/>
                </a:solidFill>
                <a:effectLst/>
                <a:uFillTx/>
                <a:latin typeface="Arial"/>
                <a:ea typeface="Arial"/>
              </a:rPr>
              <a:t>pdays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9105840" y="28004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7056c9"/>
                </a:solidFill>
                <a:effectLst/>
                <a:uFillTx/>
                <a:latin typeface="Arial"/>
                <a:ea typeface="Arial"/>
              </a:rPr>
              <a:t>previous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9105840" y="322884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7056c9"/>
                </a:solidFill>
                <a:effectLst/>
                <a:uFillTx/>
                <a:latin typeface="Arial"/>
                <a:ea typeface="Arial"/>
              </a:rPr>
              <a:t>poutcome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9105840" y="4210200"/>
            <a:ext cx="213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Previous-contact recency, count and result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57200" y="5257800"/>
            <a:ext cx="11277360" cy="704520"/>
          </a:xfrm>
          <a:prstGeom prst="rect">
            <a:avLst/>
          </a:prstGeom>
          <a:solidFill>
            <a:srgbClr val="fce1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23960" y="5410080"/>
            <a:ext cx="10743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c2414b"/>
                </a:solidFill>
                <a:effectLst/>
                <a:uFillTx/>
                <a:latin typeface="Arial"/>
                <a:ea typeface="Arial"/>
              </a:rPr>
              <a:t>Special variable: duration records the current call length. It is useful after a call, but unavailable when deciding whom to call next.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PROJECT WORKFLOW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complete workflow is a standard end-to-end ML pipeline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047600" y="2904840"/>
            <a:ext cx="9943920" cy="360"/>
          </a:xfrm>
          <a:prstGeom prst="line">
            <a:avLst/>
          </a:prstGeom>
          <a:ln w="2857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04880" y="2647800"/>
            <a:ext cx="533160" cy="53316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14440" y="3400560"/>
            <a:ext cx="1809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Load data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14440" y="3819600"/>
            <a:ext cx="1809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UCI CSV and schema checks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2971800" y="2647800"/>
            <a:ext cx="533160" cy="5331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2781360" y="3400560"/>
            <a:ext cx="1809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Prepare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781360" y="3819600"/>
            <a:ext cx="1809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clean, encode, scale and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238720" y="2647800"/>
            <a:ext cx="533160" cy="533160"/>
          </a:xfrm>
          <a:prstGeom prst="roundRect">
            <a:avLst>
              <a:gd name="adj" fmla="val 50000"/>
            </a:avLst>
          </a:prstGeom>
          <a:solidFill>
            <a:srgbClr val="7056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048280" y="3400560"/>
            <a:ext cx="1809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Train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048280" y="3819600"/>
            <a:ext cx="1809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baseline and ensemble models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505640" y="2647800"/>
            <a:ext cx="533160" cy="533160"/>
          </a:xfrm>
          <a:prstGeom prst="roundRect">
            <a:avLst>
              <a:gd name="adj" fmla="val 50000"/>
            </a:avLst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315200" y="3400560"/>
            <a:ext cx="1809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Evaluate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315200" y="3819600"/>
            <a:ext cx="1809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imbalance, calibration and fairness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9772560" y="2647800"/>
            <a:ext cx="533160" cy="533160"/>
          </a:xfrm>
          <a:prstGeom prst="roundRect">
            <a:avLst>
              <a:gd name="adj" fmla="val 50000"/>
            </a:avLst>
          </a:prstGeom>
          <a:solidFill>
            <a:srgbClr val="2183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9582120" y="3400560"/>
            <a:ext cx="1809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Deploy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582120" y="3819600"/>
            <a:ext cx="1809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Streamlit form and batch ranking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123920" y="5010120"/>
            <a:ext cx="9943920" cy="78084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428840" y="5191200"/>
            <a:ext cx="9334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One saved pipeline is reused during training and prediction, preventing the app from applying different preprocessing.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CRITICAL DESIGN CHOICE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Two models reveal whether an offline score is deployable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57200" y="1380960"/>
            <a:ext cx="10667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Call duration is often highly predictive—but it is known only after the call ends.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57200" y="2095560"/>
            <a:ext cx="5238360" cy="3038040"/>
          </a:xfrm>
          <a:prstGeom prst="rect">
            <a:avLst/>
          </a:prstGeom>
          <a:solidFill>
            <a:srgbClr val="dff2e8"/>
          </a:solidFill>
          <a:ln w="9525">
            <a:solidFill>
              <a:srgbClr val="9fd2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43040" y="23526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1835a"/>
                </a:solidFill>
                <a:effectLst/>
                <a:uFillTx/>
                <a:latin typeface="Arial"/>
                <a:ea typeface="Arial"/>
              </a:rPr>
              <a:t>MODEL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43040" y="2724120"/>
            <a:ext cx="4476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Deployable pre-call model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43040" y="3371760"/>
            <a:ext cx="66240" cy="190080"/>
          </a:xfrm>
          <a:prstGeom prst="rect">
            <a:avLst/>
          </a:prstGeom>
          <a:solidFill>
            <a:srgbClr val="2183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933480" y="328608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Uses only information known before contact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43040" y="3800520"/>
            <a:ext cx="66240" cy="190080"/>
          </a:xfrm>
          <a:prstGeom prst="rect">
            <a:avLst/>
          </a:prstGeom>
          <a:solidFill>
            <a:srgbClr val="2183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933480" y="371484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Excludes current-call duration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43040" y="4229280"/>
            <a:ext cx="66240" cy="190080"/>
          </a:xfrm>
          <a:prstGeom prst="rect">
            <a:avLst/>
          </a:prstGeom>
          <a:solidFill>
            <a:srgbClr val="2183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933480" y="414324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Produces the operational calling score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43040" y="4657680"/>
            <a:ext cx="66240" cy="190080"/>
          </a:xfrm>
          <a:prstGeom prst="rect">
            <a:avLst/>
          </a:prstGeom>
          <a:solidFill>
            <a:srgbClr val="2183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933480" y="457200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Main model used in the application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496200" y="2095560"/>
            <a:ext cx="5238360" cy="3038040"/>
          </a:xfrm>
          <a:prstGeom prst="rect">
            <a:avLst/>
          </a:prstGeom>
          <a:solidFill>
            <a:srgbClr val="fff0cf"/>
          </a:solidFill>
          <a:ln w="9525">
            <a:solidFill>
              <a:srgbClr val="e6c0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781680" y="23526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b76e00"/>
                </a:solidFill>
                <a:effectLst/>
                <a:uFillTx/>
                <a:latin typeface="Arial"/>
                <a:ea typeface="Arial"/>
              </a:rPr>
              <a:t>MODEL 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781680" y="2724120"/>
            <a:ext cx="4476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Post-call analysis model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781680" y="3371760"/>
            <a:ext cx="66240" cy="190080"/>
          </a:xfrm>
          <a:prstGeom prst="rect">
            <a:avLst/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972480" y="328608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May include current-call duration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781680" y="3800520"/>
            <a:ext cx="66240" cy="190080"/>
          </a:xfrm>
          <a:prstGeom prst="rect">
            <a:avLst/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972480" y="371484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Used only for analysis after contact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6781680" y="4229280"/>
            <a:ext cx="66240" cy="190080"/>
          </a:xfrm>
          <a:prstGeom prst="rect">
            <a:avLst/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972480" y="414324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Quantifies the performance inflation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781680" y="4657680"/>
            <a:ext cx="66240" cy="190080"/>
          </a:xfrm>
          <a:prstGeom prst="rect">
            <a:avLst/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972480" y="457200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Demonstrates feature-availability leakage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990720" y="5505480"/>
            <a:ext cx="10210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Research contribution: report both results and explicitly label which features exist at decision time.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DATA PREPARATION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Preprocessing is fitted on training data only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57200" y="1628640"/>
            <a:ext cx="380520" cy="34272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971640" y="1609560"/>
            <a:ext cx="45334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Validate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57200" y="2114640"/>
            <a:ext cx="5047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Check types, allowed categories, missing/unknown values and target labels.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457200" y="3105000"/>
            <a:ext cx="504792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191280" y="1628640"/>
            <a:ext cx="380520" cy="34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705720" y="1609560"/>
            <a:ext cx="45334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191280" y="2114640"/>
            <a:ext cx="5047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One-hot encode categorical variables; scale numeric values for models that need it.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190920" y="3105000"/>
            <a:ext cx="504828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457200" y="3905280"/>
            <a:ext cx="380520" cy="342720"/>
          </a:xfrm>
          <a:prstGeom prst="rect">
            <a:avLst/>
          </a:prstGeom>
          <a:solidFill>
            <a:srgbClr val="7056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971640" y="3886200"/>
            <a:ext cx="45334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Engineer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457200" y="4390920"/>
            <a:ext cx="5047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Create transparent history, recency, pressure, balance and seasonality features.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191280" y="3905280"/>
            <a:ext cx="380520" cy="342720"/>
          </a:xfrm>
          <a:prstGeom prst="rect">
            <a:avLst/>
          </a:prstGeom>
          <a:solidFill>
            <a:srgbClr val="2183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705720" y="3886200"/>
            <a:ext cx="45334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Package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191280" y="4390920"/>
            <a:ext cx="5047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Store preprocessing and classifier together in one reproducible pipeline.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57200" y="5667480"/>
            <a:ext cx="11277360" cy="437760"/>
          </a:xfrm>
          <a:prstGeom prst="rect">
            <a:avLst/>
          </a:prstGeom>
          <a:solidFill>
            <a:srgbClr val="fce1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14240" y="5753160"/>
            <a:ext cx="1076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c2414b"/>
                </a:solidFill>
                <a:effectLst/>
                <a:uFillTx/>
                <a:latin typeface="Arial"/>
                <a:ea typeface="Arial"/>
              </a:rPr>
              <a:t>Leakage rule: quantiles, encoders, scalers, SMOTE and calibration are learned only from the appropriate training/validation portion.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MACHINE-LEARNING MODELS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Four models provide a clear progression from baseline to ensemble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9" name=""/>
          <p:cNvGraphicFramePr/>
          <p:nvPr/>
        </p:nvGraphicFramePr>
        <p:xfrm>
          <a:off x="457200" y="1552680"/>
          <a:ext cx="11277360" cy="3209400"/>
        </p:xfrm>
        <a:graphic>
          <a:graphicData uri="http://schemas.openxmlformats.org/drawingml/2006/table">
            <a:tbl>
              <a:tblPr/>
              <a:tblGrid>
                <a:gridCol w="2286000"/>
                <a:gridCol w="3009600"/>
                <a:gridCol w="3143160"/>
                <a:gridCol w="2838240"/>
              </a:tblGrid>
              <a:tr h="64188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Model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Purpose in the project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Strength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Limitation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4188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Logistic Regression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Transparent baseline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Fast; interpretable coefficients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Mostly linear decision boundary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4188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Decision Tree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Simple non-linear baseline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Easy rules and visualization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Can overfit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88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Random Forest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Primary robust ensemble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Handles interactions and mixed signals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Less transparent than one tree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4188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XGBoost (optional)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Advanced comparison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Strong tabular performance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More tuning and explanation effort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"/>
          <p:cNvSpPr/>
          <p:nvPr/>
        </p:nvSpPr>
        <p:spPr>
          <a:xfrm>
            <a:off x="457200" y="5095800"/>
            <a:ext cx="209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SELECTION RULE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57200" y="5448240"/>
            <a:ext cx="10667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Choose the final model using validation PR-AUC, recall, calibration and business utility—not accuracy alone.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ENGINEERED FEATURES  |  E1–E5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New engineered inputs make campaign history easier to learn and explain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7" name=""/>
          <p:cNvGraphicFramePr/>
          <p:nvPr/>
        </p:nvGraphicFramePr>
        <p:xfrm>
          <a:off x="457200" y="1562040"/>
          <a:ext cx="11277360" cy="3561840"/>
        </p:xfrm>
        <a:graphic>
          <a:graphicData uri="http://schemas.openxmlformats.org/drawingml/2006/table">
            <a:tbl>
              <a:tblPr/>
              <a:tblGrid>
                <a:gridCol w="3333600"/>
                <a:gridCol w="3381120"/>
                <a:gridCol w="4562280"/>
              </a:tblGrid>
              <a:tr h="59364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Definition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Purpose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5936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E1  was_previously_contacted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if pdays ≠ -1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Separates new prospects from previously contacted customers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5936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E2  previous_success_flag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if poutcome = success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Captures the clearest previous-campaign signal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36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E3  total_contact_count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campaign + previous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Summarises total contact exposure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5936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E4  contact_pressure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campaign / (previous + 1)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Flags heavy current contact relative to history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36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E5  debt_product_count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Count yes across default, housing and loan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Transparent view of existing credit commitments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28" name=""/>
          <p:cNvSpPr/>
          <p:nvPr/>
        </p:nvSpPr>
        <p:spPr>
          <a:xfrm>
            <a:off x="457200" y="5410080"/>
            <a:ext cx="11277360" cy="552240"/>
          </a:xfrm>
          <a:prstGeom prst="rect">
            <a:avLst/>
          </a:prstGeom>
          <a:solidFill>
            <a:srgbClr val="d9e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81200" y="5543640"/>
            <a:ext cx="10629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All five features are available before the current call and can appear in customer-level explanations.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ENGINEERED FEATURES  |  E6–E9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Bands and audit groups turn raw values into clear business concepts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"/>
          <p:cNvGraphicFramePr/>
          <p:nvPr/>
        </p:nvGraphicFramePr>
        <p:xfrm>
          <a:off x="457200" y="1562040"/>
          <a:ext cx="11277360" cy="313344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4133520"/>
              </a:tblGrid>
              <a:tr h="62640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Definition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Purpose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264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E6  balance_segment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Low / medium / high from training quantiles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Captures non-linear balance effects without using test information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264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E7  recency_band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Never; 0–30; 31–90; &gt;90 days from pdays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Makes previous-contact recency easy to interpret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4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E8  contact_quarter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Month mapped to Q1–Q4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Captures seasonality with fewer categories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2640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E9  age_group_audit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&lt;30; 30–44; 45–59; 60+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Used to report selection, recall and false-positive rates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6" name=""/>
          <p:cNvSpPr/>
          <p:nvPr/>
        </p:nvSpPr>
        <p:spPr>
          <a:xfrm>
            <a:off x="457200" y="5029200"/>
            <a:ext cx="3047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IMPORTANT IMPLEMENTATION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57200" y="546732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47640" y="5381640"/>
            <a:ext cx="10382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Balance cut-offs come from the training set only.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457200" y="586728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47640" y="5781600"/>
            <a:ext cx="10382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Age groups are primarily an audit lens—not an automatic exclusion rule.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NEW FEATURES ADDED BY US  |  F1–F5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first five system features make the experiment realistic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"/>
          <p:cNvGraphicFramePr/>
          <p:nvPr/>
        </p:nvGraphicFramePr>
        <p:xfrm>
          <a:off x="457200" y="1552680"/>
          <a:ext cx="11277360" cy="3666600"/>
        </p:xfrm>
        <a:graphic>
          <a:graphicData uri="http://schemas.openxmlformats.org/drawingml/2006/table">
            <a:tbl>
              <a:tblPr/>
              <a:tblGrid>
                <a:gridCol w="904680"/>
                <a:gridCol w="3666960"/>
                <a:gridCol w="6705360"/>
              </a:tblGrid>
              <a:tr h="61092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it adds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Deployable pre-call model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Scores customers using only information available before the call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F2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Post-call model + leakage audit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Measures the advantage gained from unavailable duration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F3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Chronological validation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Tests on later records when campaign ordering is available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F4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Imbalance-aware learning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Class weights first; SMOTE only inside training folds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F5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Calibrated probabilities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Reliability curve and Brier score for meaningful likelihoods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47" name=""/>
          <p:cNvSpPr/>
          <p:nvPr/>
        </p:nvSpPr>
        <p:spPr>
          <a:xfrm>
            <a:off x="800280" y="5553000"/>
            <a:ext cx="105724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These features address deployment-time validity, temporal realism, minority-class performance and probability quality.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NEW FEATURES ADDED BY US  |  F6–F10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next five features turn a model into a responsible application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3" name=""/>
          <p:cNvGraphicFramePr/>
          <p:nvPr/>
        </p:nvGraphicFramePr>
        <p:xfrm>
          <a:off x="457200" y="1552680"/>
          <a:ext cx="11277360" cy="3666600"/>
        </p:xfrm>
        <a:graphic>
          <a:graphicData uri="http://schemas.openxmlformats.org/drawingml/2006/table">
            <a:tbl>
              <a:tblPr/>
              <a:tblGrid>
                <a:gridCol w="904680"/>
                <a:gridCol w="3666960"/>
                <a:gridCol w="6705360"/>
              </a:tblGrid>
              <a:tr h="61092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it adds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F6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Cost-aware threshold + top-N list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Converts scores into a transparent contact decision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F7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Global + local explainability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Shows overall drivers and customer-specific reason codes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F8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Fairness audit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Compares selection, recall and false-positive rates by broad age group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F9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Streamlit app + optional API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Single prediction, batch CSV scoring and export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92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Reproducible model card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Documents data, pipeline, metrics, limitations and intended use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4" name=""/>
          <p:cNvSpPr/>
          <p:nvPr/>
        </p:nvSpPr>
        <p:spPr>
          <a:xfrm>
            <a:off x="762120" y="5553000"/>
            <a:ext cx="10667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Together, F1–F10 provide the project’s main novelty: a full decision workflow rather than only a model-comparison notebook.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DECISION AND RESPONSIBLE 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Prediction becomes useful only after calibration, explanation and review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457200" y="1666800"/>
            <a:ext cx="2514240" cy="332388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457200" y="1666800"/>
            <a:ext cx="2514240" cy="7596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647640" y="2000160"/>
            <a:ext cx="2133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Calibrate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647640" y="2571840"/>
            <a:ext cx="21333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Use validation data to align model scores with observed subscription rates.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47640" y="4028760"/>
            <a:ext cx="2133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47640" y="4229280"/>
            <a:ext cx="2133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Output: trustworthy probability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276720" y="1666800"/>
            <a:ext cx="2514240" cy="332388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276720" y="1666800"/>
            <a:ext cx="2514240" cy="75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467160" y="2000160"/>
            <a:ext cx="2133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Decide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467160" y="2571840"/>
            <a:ext cx="21333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Set a threshold from call cost, expected benefit or the daily contact capacity.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466800" y="4028760"/>
            <a:ext cx="213372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467160" y="4229280"/>
            <a:ext cx="2133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Output: call / do not call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6095880" y="1666800"/>
            <a:ext cx="2514240" cy="332388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095880" y="1666800"/>
            <a:ext cx="2514240" cy="75960"/>
          </a:xfrm>
          <a:prstGeom prst="rect">
            <a:avLst/>
          </a:prstGeom>
          <a:solidFill>
            <a:srgbClr val="7056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6286680" y="2000160"/>
            <a:ext cx="2133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7056c9"/>
                </a:solidFill>
                <a:effectLst/>
                <a:uFillTx/>
                <a:latin typeface="Arial"/>
                <a:ea typeface="Arial"/>
              </a:rPr>
              <a:t>Explain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286680" y="2571840"/>
            <a:ext cx="21333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Show global importance and local reasons such as prior success or recency.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286320" y="4028760"/>
            <a:ext cx="213372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6286680" y="4229280"/>
            <a:ext cx="2133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Output: reason codes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8915400" y="1666800"/>
            <a:ext cx="2514240" cy="332388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8915400" y="1666800"/>
            <a:ext cx="2514240" cy="75960"/>
          </a:xfrm>
          <a:prstGeom prst="rect">
            <a:avLst/>
          </a:prstGeom>
          <a:solidFill>
            <a:srgbClr val="b7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9105840" y="2000160"/>
            <a:ext cx="2133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b76e00"/>
                </a:solidFill>
                <a:effectLst/>
                <a:uFillTx/>
                <a:latin typeface="Arial"/>
                <a:ea typeface="Arial"/>
              </a:rPr>
              <a:t>Audit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9105840" y="2571840"/>
            <a:ext cx="21333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Compare selection, recall and false-positive rates across broad age groups.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9105840" y="4028760"/>
            <a:ext cx="2133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9105840" y="4229280"/>
            <a:ext cx="2133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Output: fairness report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57200" y="5315040"/>
            <a:ext cx="11277360" cy="628200"/>
          </a:xfrm>
          <a:prstGeom prst="rect">
            <a:avLst/>
          </a:prstGeom>
          <a:solidFill>
            <a:srgbClr val="d9e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790560" y="5457960"/>
            <a:ext cx="106106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system supports a human decision. It should not automatically deny customers access to products or services.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ML APPLICATION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final application supports one customer or an entire contact list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457200" y="1533600"/>
            <a:ext cx="5276520" cy="384768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23960" y="1790640"/>
            <a:ext cx="209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SINGLE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23960" y="217188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Customer form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723960" y="281952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914400" y="273384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Enter customer and campaign fields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723960" y="324792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914400" y="316224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Validate missing and unknown inputs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23960" y="367668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914400" y="359100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Return subscription probability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23960" y="410544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914400" y="401940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Show call recommendation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723960" y="4533840"/>
            <a:ext cx="66240" cy="19008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914400" y="4448160"/>
            <a:ext cx="428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Display top positive and negative reasons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000840" y="1533600"/>
            <a:ext cx="5733720" cy="3847680"/>
          </a:xfrm>
          <a:prstGeom prst="rect">
            <a:avLst/>
          </a:prstGeom>
          <a:solidFill>
            <a:srgbClr val="f4f6f8"/>
          </a:solidFill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286680" y="1790640"/>
            <a:ext cx="209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BATCH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286680" y="2171880"/>
            <a:ext cx="31428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Campaign planner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286680" y="281952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477120" y="2733840"/>
            <a:ext cx="476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Upload a customer CSV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286680" y="324792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477120" y="3162240"/>
            <a:ext cx="476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Score every row using the same pipeline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286680" y="367668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477120" y="3591000"/>
            <a:ext cx="476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Sort by calibrated probability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286680" y="410544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477120" y="4019400"/>
            <a:ext cx="476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Apply threshold or daily top-N capacity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286680" y="4533840"/>
            <a:ext cx="66240" cy="190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477120" y="4448160"/>
            <a:ext cx="476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Download the prioritised contact list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743040" y="5695920"/>
            <a:ext cx="107056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Suggested stack: Python • scikit-learn • SHAP • Streamlit • joblib • optional FastAPI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LITERATURE SURVEY  |  1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Related research papers: benchmark, history, deep learning and cost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3" name=""/>
          <p:cNvGraphicFramePr/>
          <p:nvPr/>
        </p:nvGraphicFramePr>
        <p:xfrm>
          <a:off x="457200" y="1457280"/>
          <a:ext cx="11277360" cy="4609800"/>
        </p:xfrm>
        <a:graphic>
          <a:graphicData uri="http://schemas.openxmlformats.org/drawingml/2006/table">
            <a:tbl>
              <a:tblPr/>
              <a:tblGrid>
                <a:gridCol w="2952720"/>
                <a:gridCol w="4000320"/>
                <a:gridCol w="4324320"/>
              </a:tblGrid>
              <a:tr h="65844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Study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 / focus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Main contribution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Moro et al. (2014)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Decision Support Systems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LR, tree, neural network and SVM; feature selection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Established the benchmark pipeline and influential variables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Moro et al. (2015)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Neural Computing and Applications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Customer-history variables and multilayer perceptron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Showed lift gains from customer history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Kim et al. (2016)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IEEE SoCPaR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Deep convolutional neural network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Demonstrated a deep-learning alternative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Moro et al. (2018)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Expert Systems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 relevance, expert knowledge and segmentation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Improved sub-problem targeting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Jiang (2018)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Int. Journal on Data Science &amp; Tech.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Logistic Regression versus common classifiers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Strong transparent statistical baseline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Ghatasheh et al. (2020)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Applied Sciences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Cost-sensitive ANN and MetaCost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Focused on unequal error cost and imbalance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LITERATURE SURVEY  |  2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Related research papers: optimization, ensembles and interpretability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9" name=""/>
          <p:cNvGraphicFramePr/>
          <p:nvPr/>
        </p:nvGraphicFramePr>
        <p:xfrm>
          <a:off x="457200" y="1457280"/>
          <a:ext cx="11277360" cy="4609800"/>
        </p:xfrm>
        <a:graphic>
          <a:graphicData uri="http://schemas.openxmlformats.org/drawingml/2006/table">
            <a:tbl>
              <a:tblPr/>
              <a:tblGrid>
                <a:gridCol w="2952720"/>
                <a:gridCol w="4000320"/>
                <a:gridCol w="4324320"/>
              </a:tblGrid>
              <a:tr h="65844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Study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 / focus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Main contribution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Yan et al. (2020)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Applied Soft Computing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Whale optimization + S_Kohonen network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Improved optimizer search and stability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Feng et al. (2022)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Journal of Business Research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Dynamic ensemble selection for accuracy and profit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Linked selection to campaign profit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Tékouabou et al. (2022)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JRFM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Class-membership treatment of categorical variables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Emphasized categorical encoding and aggregate performance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Xie et al. (2023)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Computers &amp; Industrial Engineering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Ensembles, variable selection and partial dependence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Combined prediction with global interpretation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Ghatasheh et al. (2023)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IEEE Access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GA feature selection + cost-sensitive XGBoost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Strong G-mean using a compact feature subset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Peter et al. (2025)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Machine Learning with Applications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Bagging, boosting and stacking ensembles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Recent ensemble comparison and feature importance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PAPER-BY-PAPER GAPS  |  1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Research gaps relative to our proposed project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5" name=""/>
          <p:cNvGraphicFramePr/>
          <p:nvPr/>
        </p:nvGraphicFramePr>
        <p:xfrm>
          <a:off x="457200" y="1457280"/>
          <a:ext cx="11277360" cy="4609800"/>
        </p:xfrm>
        <a:graphic>
          <a:graphicData uri="http://schemas.openxmlformats.org/drawingml/2006/table">
            <a:tbl>
              <a:tblPr/>
              <a:tblGrid>
                <a:gridCol w="2190600"/>
                <a:gridCol w="6238800"/>
                <a:gridCol w="2847960"/>
              </a:tblGrid>
              <a:tr h="65844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Study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2414b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Gap in reported scope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2414b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Our response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2414b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Moro et al. (2014)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pre/post-call split, calibration, fairness or application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F1, F2, F5, F8 and F9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Moro et al. (2015)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History fields may reduce public-dataset reproducibility; limited local explanation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UCI fields, E1–E4, F7 and F9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Kim et al. (2016)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Complex CNN; accuracy-centred; limited cost, calibration and explanation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Interpretable models, F4–F7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Moro et al. (2018)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Expert split may not transfer; no calibrated local explanation or app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Reproducible pipeline, F5, F7 and F9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Jiang (2018)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Limited imbalance, time-aware testing, thresholding and local reasons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F3, F4, F6 and F7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Ghatasheh et al. (2020)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Cost-sensitive ANN but limited temporal, availability, calibration and fairness integration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F1, F3, F5, F7 and F8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PAPER-BY-PAPER GAPS  |  2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Research gaps relative to our proposed project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1" name=""/>
          <p:cNvGraphicFramePr/>
          <p:nvPr/>
        </p:nvGraphicFramePr>
        <p:xfrm>
          <a:off x="457200" y="1457280"/>
          <a:ext cx="11277360" cy="4609800"/>
        </p:xfrm>
        <a:graphic>
          <a:graphicData uri="http://schemas.openxmlformats.org/drawingml/2006/table">
            <a:tbl>
              <a:tblPr/>
              <a:tblGrid>
                <a:gridCol w="2190600"/>
                <a:gridCol w="6238800"/>
                <a:gridCol w="2847960"/>
              </a:tblGrid>
              <a:tr h="65844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Study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2414b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Gap in reported scope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2414b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Our response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2414b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Yan et al. (2020)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Hybrid optimizer is hard to reproduce and explain; limited deployment controls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Standard pipeline, F5–F10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Feng et al. (2022)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Complex ensemble depends on cost assumptions; limited local explanation and fairness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Simple models, adjustable F6, F7 and F8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Tékouabou et al. (2022)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Encoding/performance focus; no integrated time split, cost decision, fairness or app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F3 and F6–F9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Xie et al. (2023)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Global partial dependence, but limited customer-level reasons, calibration and pre-call audit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F1, F5, F6 and F7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Ghatasheh et al. (2023)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Repeated folds may mix periods; GA tuning is complex; limited calibration, fairness and app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F3, F5, F8–F10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5844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Peter et al. (2025)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Duration is influential but unavailable before contact; no integrated local explanation/calibration/fairness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F1, F2, F5, F7 and F8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GAP-TO-FEATURE TRACEABILITY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Novelty comes from combining decision-time validity with responsible deployment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7" name=""/>
          <p:cNvGraphicFramePr/>
          <p:nvPr/>
        </p:nvGraphicFramePr>
        <p:xfrm>
          <a:off x="457200" y="1457280"/>
          <a:ext cx="11277360" cy="4009680"/>
        </p:xfrm>
        <a:graphic>
          <a:graphicData uri="http://schemas.openxmlformats.org/drawingml/2006/table">
            <a:tbl>
              <a:tblPr/>
              <a:tblGrid>
                <a:gridCol w="4286160"/>
                <a:gridCol w="1380960"/>
                <a:gridCol w="5609880"/>
              </a:tblGrid>
              <a:tr h="572760"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Observed gap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Feature(s)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85680" rIns="85680" tIns="66600" bIns="66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Evidence produced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66600" marB="66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57276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Post-call variables inflate offline targeting scores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F1, F2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Side-by-side pre-call and post-call metrics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57276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Random validation may mix campaign periods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F3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Later-period holdout or ordered block test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276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hides minority-class failure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F4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Recall, precision, F1, PR-AUC and confusion matrix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57276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Scores are not probabilities or actions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F5, F6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Reliability plot, Brier score, threshold and top-N list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276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Global importance does not explain one customer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F7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Customer-level positive and negative reason codes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572760"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Research often stops at a notebook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F8–F10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Fairness report, app, saved pipeline and model card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 marT="56880" marB="56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8" name=""/>
          <p:cNvSpPr/>
          <p:nvPr/>
        </p:nvSpPr>
        <p:spPr>
          <a:xfrm>
            <a:off x="457200" y="5657760"/>
            <a:ext cx="11277360" cy="456840"/>
          </a:xfrm>
          <a:prstGeom prst="rect">
            <a:avLst/>
          </a:prstGeom>
          <a:solidFill>
            <a:srgbClr val="dd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714240" y="5743440"/>
            <a:ext cx="10762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Proposed contribution: an explainable, calibrated and cost-aware pre-call targeting workflow built on a reproducible public dataset.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VISIBLE SOURCES  |  1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References and data source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457200" y="138096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[P1] Moro, Cortez &amp; Rita (2014). A data-driven approach to predict the success of bank telemarketing. Decision Support Systems, 62.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57200" y="185724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1"/>
              </a:rPr>
              <a:t>https://doi.org/10.1016/j.dss.2014.03.001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457200" y="214308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[P2] Moro, Cortez &amp; Rita (2015). Using customer lifetime value and neural networks to improve bank deposit subscription prediction. Neural Computing and Applications, 26.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457200" y="261936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2"/>
              </a:rPr>
              <a:t>https://doi.org/10.1007/s00521-014-1703-0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457200" y="290520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[P3] Kim, Lee, Jo &amp; Cho (2016). Predicting the success of bank telemarketing using deep convolutional neural network. IEEE SoCPaR.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457200" y="338148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3"/>
              </a:rPr>
              <a:t>https://doi.org/10.1109/SOCPAR.2015.7492828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457200" y="366696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[P4] Moro, Cortez &amp; Rita (2018). A divide-and-conquer strategy using feature relevance and expert knowledge. Expert Systems, 35(4).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57200" y="414324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4"/>
              </a:rPr>
              <a:t>https://doi.org/10.1111/exsy.12253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286680" y="1380960"/>
            <a:ext cx="544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[P5] Jiang (2018). Using Logistic Regression Model to Predict the Success of Bank Telemarketing. International Journal on Data Science and Technology, 4(1).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286680" y="1857240"/>
            <a:ext cx="5447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5"/>
              </a:rPr>
              <a:t>https://doi.org/10.11648/j.ijdst.20180401.15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286680" y="2143080"/>
            <a:ext cx="544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[P6] Ghatasheh et al. (2020). Business Analytics in Telemarketing: Cost-Sensitive Analysis Using ANNs. Applied Sciences, 10(7).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286680" y="2619360"/>
            <a:ext cx="5447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6"/>
              </a:rPr>
              <a:t>https://doi.org/10.3390/app10072581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286680" y="2905200"/>
            <a:ext cx="544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[D1] Moro, Rita &amp; Cortez (2014). Bank Marketing [Dataset]. UCI Machine Learning Repository.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6286680" y="3381480"/>
            <a:ext cx="5447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7"/>
              </a:rPr>
              <a:t>https://doi.org/10.24432/C5K306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6286680" y="3857760"/>
            <a:ext cx="5447880" cy="1085400"/>
          </a:xfrm>
          <a:prstGeom prst="rect">
            <a:avLst/>
          </a:prstGeom>
          <a:solidFill>
            <a:srgbClr val="d9e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6553080" y="4095720"/>
            <a:ext cx="49147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All literature-table sources and the dataset source are visible inside the PowerPoint and also attached to the relevant slide notes.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457200" y="30492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VISIBLE SOURCES  |  2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457200" y="6285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23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References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57200" y="138096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[P7] Yan, Li &amp; Liu (2020). Prediction of bank telephone marketing results based on improved whale algorithms optimizing S_Kohonen network. Applied Soft Computing, 92.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457200" y="185724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1"/>
              </a:rPr>
              <a:t>https://doi.org/10.1016/j.asoc.2020.106259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457200" y="233352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[P8] Feng, Yin, Wang &amp; Dhamotharan (2022). A dynamic ensemble selection method for bank telemarketing sales prediction. Journal of Business Research, 139.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457200" y="280980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2"/>
              </a:rPr>
              <a:t>https://doi.org/10.1016/j.jbusres.2021.09.067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457200" y="3286080"/>
            <a:ext cx="542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[P9] Tékouabou et al. (2022). A Machine Learning Framework towards Bank Telemarketing Prediction. Journal of Risk and Financial Management, 15(6).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457200" y="376236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3"/>
              </a:rPr>
              <a:t>https://doi.org/10.3390/jrfm15060269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286680" y="1380960"/>
            <a:ext cx="544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[P10] Xie et al. (2023). How to improve the success of bank telemarketing? Prediction and interpretability analysis. Computers &amp; Industrial Engineering, 175.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286680" y="1857240"/>
            <a:ext cx="5447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4"/>
              </a:rPr>
              <a:t>https://doi.org/10.1016/j.cie.2022.108874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6286680" y="2333520"/>
            <a:ext cx="544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[P11] Ghatasheh, Altaharwa &amp; Aldebei (2023). Modeling the Telemarketing Process Using Genetic Algorithms and Extreme Boosting. IEEE Access, 11.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6286680" y="2809800"/>
            <a:ext cx="5447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5"/>
              </a:rPr>
              <a:t>https://doi.org/10.1109/ACCESS.2023.3292840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6286680" y="3286080"/>
            <a:ext cx="544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[P12] Peter et al. (2025). Predicting customer subscription in bank telemarketing campaigns using ensemble learning models. Machine Learning with Applications, 19.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6286680" y="3762360"/>
            <a:ext cx="5447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sng" strike="noStrike">
                <a:solidFill>
                  <a:srgbClr val="467886"/>
                </a:solidFill>
                <a:effectLst/>
                <a:uFillTx/>
                <a:latin typeface="Arial"/>
                <a:ea typeface="Arial"/>
                <a:hlinkClick r:id="rId6"/>
              </a:rPr>
              <a:t>https://doi.org/10.1016/j.mlwa.2025.100618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>
            <a:off x="457200" y="399960"/>
            <a:ext cx="3428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PROPOSED PROJECT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457200" y="1257480"/>
            <a:ext cx="1066752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 feasible ML project with a clear research contribution and a working application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457200" y="3305160"/>
            <a:ext cx="31428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Guide inputs requested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457200" y="400068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047600" y="3981600"/>
            <a:ext cx="2838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Model scope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047600" y="4295880"/>
            <a:ext cx="2838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Logistic Regression + Tree + Random Forest; XGBoost optional.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4286160" y="400068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df5f1"/>
          </a:solidFill>
          <a:ln w="9525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4876920" y="3981600"/>
            <a:ext cx="2838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Validation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4876920" y="4295880"/>
            <a:ext cx="2838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Confirm whether dataset row order will be used for an ordered holdout.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8153280" y="4000680"/>
            <a:ext cx="418680" cy="41868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8744040" y="3981600"/>
            <a:ext cx="2838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Research depth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8744040" y="4295880"/>
            <a:ext cx="2838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Approve calibration, thresholding, explanation and fairness as novelty.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457200" y="5800680"/>
            <a:ext cx="4952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•  26MAI0007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457200" y="6343560"/>
            <a:ext cx="11277360" cy="360"/>
          </a:xfrm>
          <a:prstGeom prst="line">
            <a:avLst/>
          </a:prstGeom>
          <a:ln w="9525">
            <a:solidFill>
              <a:srgbClr val="c8c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457200" y="644832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Kedar Kenjalkar  |  26MAI0007  |  Machine Learning and Applications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11096640" y="6448320"/>
            <a:ext cx="63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9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2026-09-01T00:52:50Z</dcterms:created>
  <dc:creator>Walnut Exporter</dc:creator>
  <dc:description/>
  <dc:language>en-US</dc:language>
  <cp:lastModifiedBy/>
  <dcterms:modified xsi:type="dcterms:W3CDTF">2026-09-01T19:23:50Z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